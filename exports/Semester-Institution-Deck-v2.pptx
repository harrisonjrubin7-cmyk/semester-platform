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71831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b="1" spc="495" kern="0" dirty="0">
                <a:solidFill>
                  <a:srgbClr val="D4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333500" y="3784327"/>
            <a:ext cx="16089630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67"/>
              </a:lnSpc>
              <a:buNone/>
            </a:pPr>
            <a:r>
              <a:rPr lang="en-US" sz="75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governed layer over the systems you already run.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333500" y="6089377"/>
            <a:ext cx="1718310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55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provosts, registrars, IT, privacy and student success · October 2026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33500" y="8599215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ECEEF2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Prepared for institutional review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STUDENTS FACE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5716250" cy="819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98"/>
              </a:lnSpc>
              <a:buNone/>
            </a:pPr>
            <a:r>
              <a:rPr lang="en-US" sz="57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information exists. It’s just in twelve places.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33500" y="3041079"/>
            <a:ext cx="137350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1B1A17">
                    <a:alpha val="8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Holds are found at registration. Deadlines change in a PDF. Students can’t tell which source is official, so they ask your staff.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SEMESTER 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954485"/>
            <a:ext cx="817245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0"/>
              </a:lnSpc>
              <a:buNone/>
            </a:pPr>
            <a:r>
              <a:rPr lang="en-US" sz="3900" b="1" dirty="0">
                <a:solidFill>
                  <a:srgbClr val="94BCE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333500" y="3003128"/>
            <a:ext cx="7320582" cy="1349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student workspace and staff workspaces, reading from your SIS and LMS, with every fact labelled by source.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0" y="1954485"/>
            <a:ext cx="817245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0"/>
              </a:lnSpc>
              <a:buNone/>
            </a:pPr>
            <a:r>
              <a:rPr lang="en-US" sz="39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Isn’t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525000" y="3003128"/>
            <a:ext cx="7604098" cy="877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replacement for your SIS or LMS, a risk-scoring system, or a way to send student records to AI providers.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326606"/>
            <a:ext cx="81724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 EXPERIENCE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909492"/>
            <a:ext cx="7652385" cy="137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Today: the next step, with its source.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76375" y="5631582"/>
            <a:ext cx="736282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2916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Deadlines from every course, one list</a:t>
            </a:r>
            <a:endParaRPr lang="en-US" sz="2250" dirty="0"/>
          </a:p>
          <a:p>
            <a:pPr algn="l" marL="200025" indent="-200025">
              <a:lnSpc>
                <a:spcPct val="12916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Holds shown early, live-checked at registration</a:t>
            </a:r>
            <a:endParaRPr lang="en-US" sz="2250" dirty="0"/>
          </a:p>
          <a:p>
            <a:pPr algn="l" marL="200025" indent="-200025">
              <a:lnSpc>
                <a:spcPct val="12916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“Not yet confirmed” when your system hasn’t confirmed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0" y="2095500"/>
            <a:ext cx="7429500" cy="6096000"/>
          </a:xfrm>
          <a:prstGeom prst="roundRect">
            <a:avLst>
              <a:gd name="adj" fmla="val 2500"/>
            </a:avLst>
          </a:prstGeom>
          <a:ln w="19050">
            <a:solidFill>
              <a:srgbClr val="1B1A17">
                <a:alpha val="30000"/>
              </a:srgbClr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432608" y="2114550"/>
            <a:ext cx="7614285" cy="609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1B1A1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screen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COURSES AND ASSIGNMENTS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79"/>
              </a:lnSpc>
              <a:buNone/>
            </a:pPr>
            <a:r>
              <a:rPr lang="en-US" sz="51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Each deadline exists once.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333500" y="2895526"/>
            <a:ext cx="1471612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course page, the calendar and Today all read the same item. When an instructor changes a date in the LMS, every view changes — and shows when it changed.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REGISTRATION READINESS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79"/>
              </a:lnSpc>
              <a:buNone/>
            </a:pPr>
            <a:r>
              <a:rPr lang="en-US" sz="51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Ready before the window opens.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333500" y="2895526"/>
            <a:ext cx="3733800" cy="128007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3162226"/>
            <a:ext cx="3312414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Holds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who clears them, by when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95900" y="2895526"/>
            <a:ext cx="3733800" cy="128007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562600" y="3162226"/>
            <a:ext cx="3312414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Prerequisites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met, pending or unknown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258300" y="2895526"/>
            <a:ext cx="3733800" cy="128007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3162226"/>
            <a:ext cx="3312414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Time ticket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from your SIS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220700" y="2895526"/>
            <a:ext cx="3733800" cy="128007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487400" y="3162226"/>
            <a:ext cx="3312414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advisor-approved list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" y="4632796"/>
            <a:ext cx="171831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B1A17">
                    <a:alpha val="8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Readiness is not enrollment. Registration happens in your SIS.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GRADES, DEGREE AUDIT, TRANSCRIPTS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Your authority stays intact.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2853630"/>
            <a:ext cx="504924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Gradebook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Graded ≠ released. Ungraded never counts as zero.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92875" y="2853630"/>
            <a:ext cx="504924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Degree audit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Planned courses never count. Exceptions route to the registrar.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052250" y="2853630"/>
            <a:ext cx="504931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Transcripts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Official only from posted grades. Uploads stay unverified.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ADVISING AND SUPPORT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79"/>
              </a:lnSpc>
              <a:buNone/>
            </a:pPr>
            <a:r>
              <a:rPr lang="en-US" sz="51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Advisors see what students chose to share.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463040" y="2895526"/>
            <a:ext cx="15567660" cy="1988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Caseloads with the reason each student needs attention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Notes labelled shared or staff-only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Referrals with tracking; counseling and health stay separate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predictive risk scores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095500"/>
            <a:ext cx="7429500" cy="6096000"/>
          </a:xfrm>
          <a:prstGeom prst="roundRect">
            <a:avLst>
              <a:gd name="adj" fmla="val 2500"/>
            </a:avLst>
          </a:prstGeom>
          <a:ln w="19050">
            <a:solidFill>
              <a:srgbClr val="ECEEF2">
                <a:alpha val="30000"/>
              </a:srgbClr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241108" y="2114550"/>
            <a:ext cx="7614285" cy="609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ECEEF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Studio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0" y="3147045"/>
            <a:ext cx="81724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FACULTY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3729930"/>
            <a:ext cx="765238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45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Build once. Publish through your LMS.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667875" y="5368230"/>
            <a:ext cx="7362825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2916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LTI 1.3 launch from the LMS</a:t>
            </a:r>
            <a:endParaRPr lang="en-US" sz="2250" dirty="0"/>
          </a:p>
          <a:p>
            <a:pPr algn="l" marL="200025" indent="-200025">
              <a:lnSpc>
                <a:spcPct val="12916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Accessibility checks before publish</a:t>
            </a:r>
            <a:endParaRPr lang="en-US" sz="2250" dirty="0"/>
          </a:p>
          <a:p>
            <a:pPr algn="l" marL="200025" indent="-200025">
              <a:lnSpc>
                <a:spcPct val="12916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Approved accommodations applied automatically</a:t>
            </a:r>
            <a:endParaRPr lang="en-US" sz="2250" dirty="0"/>
          </a:p>
          <a:p>
            <a:pPr algn="l" marL="200025" indent="-200025">
              <a:lnSpc>
                <a:spcPct val="129167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course sets its own AI policy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INSTITUTION CONSOLE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 decide who sees what.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2853630"/>
            <a:ext cx="5049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51 roles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a bundle of explicit permissions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92875" y="2853630"/>
            <a:ext cx="5049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Separation of duties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Approver is never the requester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052250" y="2853630"/>
            <a:ext cx="504931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Expiring access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Privileged grants end within 90 days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440832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AUTHORITY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4023717"/>
            <a:ext cx="15697200" cy="193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129"/>
              </a:lnSpc>
              <a:buNone/>
            </a:pPr>
            <a:r>
              <a:rPr lang="en-US" sz="69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Your systems stay the record. Semester shows a labelled copy.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333500" y="6373713"/>
            <a:ext cx="171831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ECEEF2">
                    <a:alpha val="8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Differences are flagged for reconciliation. The SIS always wins.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Standards first, read-only by default.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500" y="2853630"/>
            <a:ext cx="3733800" cy="1653406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3120330"/>
            <a:ext cx="3312414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SSO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SAML / OIDC with your IdP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95900" y="2853630"/>
            <a:ext cx="3733800" cy="1653406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562600" y="3120330"/>
            <a:ext cx="3312414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SIS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OneRoster 1.2 read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258300" y="2853630"/>
            <a:ext cx="3733800" cy="1653406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3120330"/>
            <a:ext cx="3312414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LMS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LTI 1.3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220700" y="2853630"/>
            <a:ext cx="3733800" cy="1653406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487400" y="3120330"/>
            <a:ext cx="3312414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Writes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B1A17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Only after approval, a pilot and a rollback drill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" y="4964237"/>
            <a:ext cx="171831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B1A17">
                    <a:alpha val="8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connection is reviewed, scoped, monitored for freshness, and revocable.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Isolation enforced in the database.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63040" y="2853630"/>
            <a:ext cx="15567660" cy="2476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Row-level security forced on every table; cross-school access tested on every release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Encryption in transit and at rest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capability off by default, with a kill switch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Release gates: no evidence, no release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HECVAT in the version your institution requires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PRIVACY AND FERPA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School-official terms, under your control.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63040" y="2853630"/>
            <a:ext cx="15567660" cy="1988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processing agreement with FERPA school-official terms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Used only for the purposes you authorize; no redisclosure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Students control family, advisor and employer sharing — with end dates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Subprocessors listed, with 30-day notice of changes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GOVERNANCE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Off until you turn it on, per course.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2853630"/>
            <a:ext cx="5049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Sources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 materials faculty approved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92875" y="2853630"/>
            <a:ext cx="5049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Records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Never sent to AI providers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052250" y="2853630"/>
            <a:ext cx="504931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Output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Labelled AI; never official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Tested as whole journeys.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63040" y="2853630"/>
            <a:ext cx="15567660" cy="1988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Engineering target: WCAG 2.2 AA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Meets the WCAG 2.1 AA level the DOJ Title II rule requires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Screen reader, keyboard and zoom testing on critical journeys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Accessibility conformance report before launch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Deploy first. Switch on one capability at a time.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500" y="2853630"/>
            <a:ext cx="2508200" cy="38100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44130"/>
            <a:ext cx="258440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</a:t>
            </a:r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Agreement + data map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56000" y="2853630"/>
            <a:ext cx="2508275" cy="38100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7" name="Text 5"/>
          <p:cNvSpPr/>
          <p:nvPr/>
        </p:nvSpPr>
        <p:spPr>
          <a:xfrm>
            <a:off x="3956000" y="3044130"/>
            <a:ext cx="25844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</a:t>
            </a:r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SSO in sandbox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78575" y="2853630"/>
            <a:ext cx="2508275" cy="38100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9" name="Text 7"/>
          <p:cNvSpPr/>
          <p:nvPr/>
        </p:nvSpPr>
        <p:spPr>
          <a:xfrm>
            <a:off x="6578575" y="3044130"/>
            <a:ext cx="25844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</a:t>
            </a:r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SIS read in sandbox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01150" y="2853630"/>
            <a:ext cx="2508200" cy="38100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11" name="Text 9"/>
          <p:cNvSpPr/>
          <p:nvPr/>
        </p:nvSpPr>
        <p:spPr>
          <a:xfrm>
            <a:off x="9201150" y="3044130"/>
            <a:ext cx="258440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</a:t>
            </a:r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Staging rehearsal + UAT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23650" y="2853630"/>
            <a:ext cx="2508275" cy="38100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13" name="Text 11"/>
          <p:cNvSpPr/>
          <p:nvPr/>
        </p:nvSpPr>
        <p:spPr>
          <a:xfrm>
            <a:off x="11823650" y="3044130"/>
            <a:ext cx="25844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</a:t>
            </a:r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Your approval to activate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446225" y="2853630"/>
            <a:ext cx="2508275" cy="38100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15" name="Text 13"/>
          <p:cNvSpPr/>
          <p:nvPr/>
        </p:nvSpPr>
        <p:spPr>
          <a:xfrm>
            <a:off x="14446225" y="3044130"/>
            <a:ext cx="25844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</a:t>
            </a:r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 cohort live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 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One semester, bounded, read-only.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2853630"/>
            <a:ext cx="7730871" cy="1455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7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</a:t>
            </a:r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Registration readiness · student Today · advisor view · read-only SIS · SSO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448800" y="2853630"/>
            <a:ext cx="7730871" cy="1455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7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 </a:t>
            </a:r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SIS writes · payments · AI on student records · replacing any campus system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SUCCESS MEASURES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Agreed with you before launch.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63040" y="2853630"/>
            <a:ext cx="15567660" cy="1988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Weekly active students in the pilot cohort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Holds cleared before the registration window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Staff time saved — reported as self-reported</a:t>
            </a:r>
            <a:endParaRPr lang="en-US" sz="2400" dirty="0"/>
          </a:p>
          <a:p>
            <a:pPr algn="l" marL="213360" indent="-213360">
              <a:lnSpc>
                <a:spcPct val="132987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outcome claims without an approved study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WHO DOES WHAT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954485"/>
            <a:ext cx="825627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5"/>
              </a:lnSpc>
              <a:buNone/>
            </a:pPr>
            <a:r>
              <a:rPr lang="en-US" sz="36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Your institution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33500" y="2933626"/>
            <a:ext cx="7352237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Executive sponsor · registrar approvals · IT for SSO and SIS access · privacy review · activation decision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448800" y="1954485"/>
            <a:ext cx="825627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5"/>
              </a:lnSpc>
              <a:buNone/>
            </a:pPr>
            <a:r>
              <a:rPr lang="en-US" sz="36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Semester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448800" y="2933626"/>
            <a:ext cx="670380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2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Implementation · security evidence · training · staffed support · incident response · readout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029396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YOU LEAVE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612282"/>
            <a:ext cx="15697200" cy="275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03"/>
              </a:lnSpc>
              <a:buNone/>
            </a:pPr>
            <a:r>
              <a:rPr lang="en-US" sz="66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Export everything, then we delete synced copies within 30 days.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333500" y="6785223"/>
            <a:ext cx="171831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ECEEF2">
                    <a:alpha val="8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Confirmed in writing. Legal holds pause deletion only for the held scope.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344168"/>
            <a:ext cx="16089630" cy="275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03"/>
              </a:lnSpc>
              <a:buNone/>
            </a:pPr>
            <a:r>
              <a:rPr lang="en-US" sz="6600" dirty="0">
                <a:solidFill>
                  <a:srgbClr val="1B1A1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Signed paid pilot with Vanderbilt — launch Spring 2027, pending institutional activation.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333500" y="6440909"/>
            <a:ext cx="171831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>
                    <a:alpha val="8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Next: data map, SSO and SIS sandbox, staging rehearsal, your approval.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" y="8569672"/>
            <a:ext cx="171831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semester.example · trust@semester.example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2026-10-13T15:49:38Z</dcterms:created>
  <dcterms:modified xsi:type="dcterms:W3CDTF">2026-10-13T15:49:38Z</dcterms:modified>
</cp:coreProperties>
</file>