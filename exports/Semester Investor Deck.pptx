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333500"/>
            <a:ext cx="171831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4783"/>
              </a:lnSpc>
              <a:buNone/>
            </a:pPr>
            <a:r>
              <a:rPr lang="en-US" sz="2250" b="1" spc="495" kern="0" dirty="0">
                <a:solidFill>
                  <a:srgbClr val="D4D9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SEMESTER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1333500" y="3744367"/>
            <a:ext cx="16089630" cy="21182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78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One clear next step for every student.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1333500" y="6129338"/>
            <a:ext cx="17183100" cy="5400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537"/>
              </a:lnSpc>
              <a:buNone/>
            </a:pPr>
            <a:r>
              <a:rPr lang="en-US" sz="255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student action platform · investor update · pre-seed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1333500" y="8599215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dirty="0">
                <a:solidFill>
                  <a:srgbClr val="ECEEF2">
                    <a:alpha val="42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Illustrative — not an offer to sell securities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6089630" cy="1630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868"/>
              </a:lnSpc>
              <a:buNone/>
            </a:pPr>
            <a:r>
              <a:rPr lang="en-US" sz="57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A semester is scattered across a dozen systems. Students assemble it by hand.</a:t>
            </a: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561"/>
              </a:lnSpc>
              <a:buNone/>
            </a:pPr>
            <a:r>
              <a:rPr lang="en-US" sz="54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Today, with a source beside every fact.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463040" y="2861221"/>
            <a:ext cx="15567660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Official / connected / yours / AI-assisted — always labelled</a:t>
            </a:r>
            <a:endParaRPr lang="en-US" sz="2400" dirty="0"/>
          </a:p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Alongside the school’s systems, never replacing them</a:t>
            </a:r>
            <a:endParaRPr lang="en-US" sz="2400" dirty="0"/>
          </a:p>
          <a:p>
            <a:pPr algn="l" marL="213360" indent="-213360">
              <a:lnSpc>
                <a:spcPct val="124675"/>
              </a:lnSpc>
              <a:buSzPct val="100000"/>
              <a:buChar char="•"/>
              <a:tabLst>
                <a:tab pos="213360" algn="l"/>
              </a:tabLst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Student-controlled sharing; audited institution console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TRACTION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802085"/>
            <a:ext cx="16089630" cy="2013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372"/>
              </a:lnSpc>
              <a:buNone/>
            </a:pPr>
            <a:r>
              <a:rPr lang="en-US" sz="7200" dirty="0">
                <a:solidFill>
                  <a:srgbClr val="ECEEF2"/>
                </a:solidFill>
                <a:latin typeface="Cinzel" pitchFamily="34" charset="0"/>
                <a:ea typeface="Cinzel" pitchFamily="34" charset="-122"/>
                <a:cs typeface="Cinzel" pitchFamily="34" charset="-120"/>
              </a:rPr>
              <a:t>First paid university pilot signed.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1333500" y="4081983"/>
            <a:ext cx="171831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ECEEF2">
                    <a:alpha val="80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Real student records under a DPA/FERPA addendum. HECVAT Full, SAML SSO and a VPAT in progress for launch.</a:t>
            </a:r>
            <a:endParaRPr lang="en-US" sz="2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MODEL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725885"/>
            <a:ext cx="17183100" cy="1160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451"/>
              </a:lnSpc>
              <a:buNone/>
            </a:pPr>
            <a:r>
              <a:rPr lang="en-US" sz="57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Pilot → department → institution.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333500" y="3228901"/>
            <a:ext cx="171831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Prices beyond the pilot are planned, not published.</a:t>
            </a:r>
            <a:endParaRPr lang="en-US" sz="1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" y="1143000"/>
            <a:ext cx="17183100" cy="3923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276"/>
              </a:lnSpc>
              <a:buNone/>
            </a:pPr>
            <a:r>
              <a:rPr lang="en-US" sz="1800" spc="144" kern="0" dirty="0">
                <a:solidFill>
                  <a:srgbClr val="ECEEF2">
                    <a:alpha val="64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 90 DAYS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3500" y="1954485"/>
            <a:ext cx="5049240" cy="10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19"/>
              </a:lnSpc>
              <a:buNone/>
            </a:pPr>
            <a:r>
              <a:rPr lang="en-US" sz="30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Make it legal </a:t>
            </a:r>
            <a:pPr algn="l" indent="0" marL="0">
              <a:lnSpc>
                <a:spcPct val="120519"/>
              </a:lnSpc>
              <a:buNone/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Insurance, DPA mapping, data map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692875" y="1954485"/>
            <a:ext cx="5049240" cy="10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19"/>
              </a:lnSpc>
              <a:buNone/>
            </a:pPr>
            <a:r>
              <a:rPr lang="en-US" sz="30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Pass the reviews </a:t>
            </a:r>
            <a:pPr algn="l" indent="0" marL="0">
              <a:lnSpc>
                <a:spcPct val="120519"/>
              </a:lnSpc>
              <a:buNone/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HECVAT, SSO, VPAT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052250" y="1954485"/>
            <a:ext cx="5049317" cy="10324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519"/>
              </a:lnSpc>
              <a:buNone/>
            </a:pPr>
            <a:r>
              <a:rPr lang="en-US" sz="3000" b="1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Prove the pilot </a:t>
            </a:r>
            <a:pPr algn="l" indent="0" marL="0">
              <a:lnSpc>
                <a:spcPct val="120519"/>
              </a:lnSpc>
              <a:buNone/>
            </a:pPr>
            <a:r>
              <a:rPr lang="en-US" sz="24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Baseline, weekly KPIs, results deck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3710880"/>
            <a:ext cx="171831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Bootstrapping · revisit raising after pilot results</a:t>
            </a:r>
            <a:endParaRPr lang="en-US" sz="2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2026-10-06T02:39:14Z</dcterms:created>
  <dcterms:modified xsi:type="dcterms:W3CDTF">2026-10-06T02:39:14Z</dcterms:modified>
</cp:coreProperties>
</file>