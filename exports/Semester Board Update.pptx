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0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0" y="1333500"/>
            <a:ext cx="2438400" cy="60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24000" y="5312122"/>
            <a:ext cx="16764000" cy="4810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167"/>
              </a:lnSpc>
              <a:buNone/>
            </a:pPr>
            <a:r>
              <a:rPr lang="en-US" sz="2250" spc="180" kern="0" dirty="0">
                <a:solidFill>
                  <a:srgbClr val="94BCE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BOARD UPDATE · OCTOBER 2026</a:t>
            </a:r>
            <a:endParaRPr lang="en-US" sz="2250" dirty="0"/>
          </a:p>
        </p:txBody>
      </p:sp>
      <p:sp>
        <p:nvSpPr>
          <p:cNvPr id="4" name="Text 1"/>
          <p:cNvSpPr/>
          <p:nvPr/>
        </p:nvSpPr>
        <p:spPr>
          <a:xfrm>
            <a:off x="1524000" y="6021735"/>
            <a:ext cx="14716125" cy="2171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271"/>
              </a:lnSpc>
              <a:buNone/>
            </a:pPr>
            <a:r>
              <a:rPr lang="en-US" sz="8400" b="1" spc="-126" kern="0" dirty="0">
                <a:solidFill>
                  <a:srgbClr val="ECEEF2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Pilot contracted. Security work is the critical path.</a:t>
            </a:r>
            <a:endParaRPr lang="en-US" sz="8400" dirty="0"/>
          </a:p>
        </p:txBody>
      </p:sp>
      <p:sp>
        <p:nvSpPr>
          <p:cNvPr id="5" name="Text 2"/>
          <p:cNvSpPr/>
          <p:nvPr/>
        </p:nvSpPr>
        <p:spPr>
          <a:xfrm>
            <a:off x="1524000" y="8422035"/>
            <a:ext cx="16764000" cy="5695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767"/>
              </a:lnSpc>
              <a:buNone/>
            </a:pPr>
            <a:r>
              <a:rPr lang="en-US" sz="2700" dirty="0">
                <a:solidFill>
                  <a:srgbClr val="B7B7BA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Confidential · figures labelled sample until audited</a:t>
            </a:r>
            <a:endParaRPr lang="en-US" sz="2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24000" y="1143000"/>
            <a:ext cx="16764000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552"/>
              </a:lnSpc>
              <a:buNone/>
            </a:pPr>
            <a:r>
              <a:rPr lang="en-US" sz="2100" spc="168" kern="0" dirty="0">
                <a:solidFill>
                  <a:srgbClr val="41618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NUMBERS VS PLAN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1524000" y="2089770"/>
            <a:ext cx="3524250" cy="38100"/>
          </a:xfrm>
          <a:prstGeom prst="rect">
            <a:avLst/>
          </a:prstGeom>
          <a:solidFill>
            <a:srgbClr val="1B1A17"/>
          </a:solidFill>
          <a:ln/>
        </p:spPr>
      </p:sp>
      <p:sp>
        <p:nvSpPr>
          <p:cNvPr id="4" name="Text 2"/>
          <p:cNvSpPr/>
          <p:nvPr/>
        </p:nvSpPr>
        <p:spPr>
          <a:xfrm>
            <a:off x="1524000" y="2356470"/>
            <a:ext cx="3876675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552"/>
              </a:lnSpc>
              <a:buNone/>
            </a:pPr>
            <a:r>
              <a:rPr lang="en-US" sz="2100" dirty="0">
                <a:solidFill>
                  <a:srgbClr val="1B1A17">
                    <a:alpha val="68000"/>
                  </a:srgbClr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Contracted ARR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1524000" y="2865090"/>
            <a:ext cx="3876675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412"/>
              </a:lnSpc>
              <a:buNone/>
            </a:pPr>
            <a:r>
              <a:rPr lang="en-US" sz="6600" b="1" dirty="0">
                <a:solidFill>
                  <a:srgbClr val="1B1A17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$0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1524000" y="3798540"/>
            <a:ext cx="3876675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1B1A17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Pilot fee billed as services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5429250" y="2089770"/>
            <a:ext cx="3524250" cy="38100"/>
          </a:xfrm>
          <a:prstGeom prst="rect">
            <a:avLst/>
          </a:prstGeom>
          <a:solidFill>
            <a:srgbClr val="1B1A17"/>
          </a:solidFill>
          <a:ln/>
        </p:spPr>
      </p:sp>
      <p:sp>
        <p:nvSpPr>
          <p:cNvPr id="8" name="Text 6"/>
          <p:cNvSpPr/>
          <p:nvPr/>
        </p:nvSpPr>
        <p:spPr>
          <a:xfrm>
            <a:off x="5429250" y="2356470"/>
            <a:ext cx="3876675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552"/>
              </a:lnSpc>
              <a:buNone/>
            </a:pPr>
            <a:r>
              <a:rPr lang="en-US" sz="2100" dirty="0">
                <a:solidFill>
                  <a:srgbClr val="1B1A17">
                    <a:alpha val="68000"/>
                  </a:srgbClr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Cash on hand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5429250" y="2865090"/>
            <a:ext cx="3876675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412"/>
              </a:lnSpc>
              <a:buNone/>
            </a:pPr>
            <a:r>
              <a:rPr lang="en-US" sz="6600" b="1" dirty="0">
                <a:solidFill>
                  <a:srgbClr val="1B1A17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$14.2k</a:t>
            </a:r>
            <a:endParaRPr lang="en-US" sz="6600" dirty="0"/>
          </a:p>
        </p:txBody>
      </p:sp>
      <p:sp>
        <p:nvSpPr>
          <p:cNvPr id="10" name="Text 8"/>
          <p:cNvSpPr/>
          <p:nvPr/>
        </p:nvSpPr>
        <p:spPr>
          <a:xfrm>
            <a:off x="5429250" y="3798540"/>
            <a:ext cx="3876675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1B1A17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◌ Sample</a:t>
            </a:r>
            <a:endParaRPr lang="en-US" sz="1950" dirty="0"/>
          </a:p>
        </p:txBody>
      </p:sp>
      <p:sp>
        <p:nvSpPr>
          <p:cNvPr id="11" name="Shape 9"/>
          <p:cNvSpPr/>
          <p:nvPr/>
        </p:nvSpPr>
        <p:spPr>
          <a:xfrm>
            <a:off x="9334500" y="2089770"/>
            <a:ext cx="3524250" cy="38100"/>
          </a:xfrm>
          <a:prstGeom prst="rect">
            <a:avLst/>
          </a:prstGeom>
          <a:solidFill>
            <a:srgbClr val="1B1A17"/>
          </a:solidFill>
          <a:ln/>
        </p:spPr>
      </p:sp>
      <p:sp>
        <p:nvSpPr>
          <p:cNvPr id="12" name="Text 10"/>
          <p:cNvSpPr/>
          <p:nvPr/>
        </p:nvSpPr>
        <p:spPr>
          <a:xfrm>
            <a:off x="9334500" y="2356470"/>
            <a:ext cx="3876675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552"/>
              </a:lnSpc>
              <a:buNone/>
            </a:pPr>
            <a:r>
              <a:rPr lang="en-US" sz="2100" dirty="0">
                <a:solidFill>
                  <a:srgbClr val="1B1A17">
                    <a:alpha val="68000"/>
                  </a:srgbClr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Monthly burn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9334500" y="2865090"/>
            <a:ext cx="3876675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412"/>
              </a:lnSpc>
              <a:buNone/>
            </a:pPr>
            <a:r>
              <a:rPr lang="en-US" sz="6600" b="1" dirty="0">
                <a:solidFill>
                  <a:srgbClr val="1B1A17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$565</a:t>
            </a:r>
            <a:endParaRPr lang="en-US" sz="6600" dirty="0"/>
          </a:p>
        </p:txBody>
      </p:sp>
      <p:sp>
        <p:nvSpPr>
          <p:cNvPr id="14" name="Text 12"/>
          <p:cNvSpPr/>
          <p:nvPr/>
        </p:nvSpPr>
        <p:spPr>
          <a:xfrm>
            <a:off x="9334500" y="3798540"/>
            <a:ext cx="3876675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1B1A17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On plan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13239750" y="2089770"/>
            <a:ext cx="3524250" cy="38100"/>
          </a:xfrm>
          <a:prstGeom prst="rect">
            <a:avLst/>
          </a:prstGeom>
          <a:solidFill>
            <a:srgbClr val="1B1A17"/>
          </a:solidFill>
          <a:ln/>
        </p:spPr>
      </p:sp>
      <p:sp>
        <p:nvSpPr>
          <p:cNvPr id="16" name="Text 14"/>
          <p:cNvSpPr/>
          <p:nvPr/>
        </p:nvSpPr>
        <p:spPr>
          <a:xfrm>
            <a:off x="13239750" y="2356470"/>
            <a:ext cx="3876675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552"/>
              </a:lnSpc>
              <a:buNone/>
            </a:pPr>
            <a:r>
              <a:rPr lang="en-US" sz="2100" dirty="0">
                <a:solidFill>
                  <a:srgbClr val="1B1A17">
                    <a:alpha val="68000"/>
                  </a:srgbClr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Pipeline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3239750" y="2865090"/>
            <a:ext cx="3876675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3412"/>
              </a:lnSpc>
              <a:buNone/>
            </a:pPr>
            <a:r>
              <a:rPr lang="en-US" sz="6600" b="1" dirty="0">
                <a:solidFill>
                  <a:srgbClr val="1B1A17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3</a:t>
            </a:r>
            <a:endParaRPr lang="en-US" sz="6600" dirty="0"/>
          </a:p>
        </p:txBody>
      </p:sp>
      <p:sp>
        <p:nvSpPr>
          <p:cNvPr id="18" name="Text 16"/>
          <p:cNvSpPr/>
          <p:nvPr/>
        </p:nvSpPr>
        <p:spPr>
          <a:xfrm>
            <a:off x="13239750" y="3798540"/>
            <a:ext cx="3876675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1B1A17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Institutions in discovery</a:t>
            </a:r>
            <a:endParaRPr lang="en-US" sz="1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24000" y="1143000"/>
            <a:ext cx="16764000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552"/>
              </a:lnSpc>
              <a:buNone/>
            </a:pPr>
            <a:r>
              <a:rPr lang="en-US" sz="2100" spc="168" kern="0" dirty="0">
                <a:solidFill>
                  <a:srgbClr val="41618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VANDERBILT PILOT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524000" y="2013570"/>
            <a:ext cx="15716250" cy="7981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692"/>
              </a:lnSpc>
              <a:buNone/>
            </a:pPr>
            <a:r>
              <a:rPr lang="en-US" sz="5700" b="1" spc="-85" kern="0" dirty="0">
                <a:solidFill>
                  <a:srgbClr val="1B1A17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Signed. Start date depends on four security deliverables.</a:t>
            </a:r>
            <a:endParaRPr lang="en-US" sz="5700" dirty="0"/>
          </a:p>
        </p:txBody>
      </p:sp>
      <p:sp>
        <p:nvSpPr>
          <p:cNvPr id="4" name="Shape 2"/>
          <p:cNvSpPr/>
          <p:nvPr/>
        </p:nvSpPr>
        <p:spPr>
          <a:xfrm>
            <a:off x="1524000" y="3230835"/>
            <a:ext cx="3609975" cy="1976289"/>
          </a:xfrm>
          <a:prstGeom prst="roundRect">
            <a:avLst>
              <a:gd name="adj" fmla="val 4820"/>
            </a:avLst>
          </a:prstGeom>
          <a:ln w="19050">
            <a:solidFill>
              <a:srgbClr val="1B1A17">
                <a:alpha val="34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09750" y="3568973"/>
            <a:ext cx="2050628" cy="8771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831"/>
              </a:lnSpc>
              <a:buNone/>
            </a:pPr>
            <a:r>
              <a:rPr lang="en-US" sz="2400" dirty="0">
                <a:solidFill>
                  <a:srgbClr val="1B1A17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◆ DPA / FERPA addendum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809750" y="4537546"/>
            <a:ext cx="3342323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1B1A17">
                    <a:alpha val="68000"/>
                  </a:srgbClr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Signed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5400675" y="3230835"/>
            <a:ext cx="3609975" cy="1976289"/>
          </a:xfrm>
          <a:prstGeom prst="roundRect">
            <a:avLst>
              <a:gd name="adj" fmla="val 4820"/>
            </a:avLst>
          </a:prstGeom>
          <a:ln w="19050">
            <a:solidFill>
              <a:srgbClr val="1B1A17">
                <a:alpha val="16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86425" y="3568973"/>
            <a:ext cx="1969071" cy="4048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831"/>
              </a:lnSpc>
              <a:buNone/>
            </a:pPr>
            <a:r>
              <a:rPr lang="en-US" sz="2400" dirty="0">
                <a:solidFill>
                  <a:srgbClr val="1B1A17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… HECVAT Full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686425" y="4065166"/>
            <a:ext cx="3342323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1B1A17">
                    <a:alpha val="68000"/>
                  </a:srgbClr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70% drafted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9277350" y="3230835"/>
            <a:ext cx="3609975" cy="1976289"/>
          </a:xfrm>
          <a:prstGeom prst="roundRect">
            <a:avLst>
              <a:gd name="adj" fmla="val 4820"/>
            </a:avLst>
          </a:prstGeom>
          <a:ln w="19050">
            <a:solidFill>
              <a:srgbClr val="1B1A17">
                <a:alpha val="16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563100" y="3568973"/>
            <a:ext cx="1740173" cy="4048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831"/>
              </a:lnSpc>
              <a:buNone/>
            </a:pPr>
            <a:r>
              <a:rPr lang="en-US" sz="2400" dirty="0">
                <a:solidFill>
                  <a:srgbClr val="1B1A17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… SAML SSO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9563100" y="4065166"/>
            <a:ext cx="3342323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1B1A17">
                    <a:alpha val="68000"/>
                  </a:srgbClr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Built, untested with IdP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13154025" y="3230835"/>
            <a:ext cx="3609975" cy="1976289"/>
          </a:xfrm>
          <a:prstGeom prst="roundRect">
            <a:avLst>
              <a:gd name="adj" fmla="val 4820"/>
            </a:avLst>
          </a:prstGeom>
          <a:ln w="19050">
            <a:solidFill>
              <a:srgbClr val="1B1A17">
                <a:alpha val="16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3439775" y="3568973"/>
            <a:ext cx="1925464" cy="8771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831"/>
              </a:lnSpc>
              <a:buNone/>
            </a:pPr>
            <a:r>
              <a:rPr lang="en-US" sz="2400" dirty="0">
                <a:solidFill>
                  <a:srgbClr val="1B1A17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○ Cyber + E&amp;O insurance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3439775" y="4537546"/>
            <a:ext cx="3342323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950" dirty="0">
                <a:solidFill>
                  <a:srgbClr val="1B1A17">
                    <a:alpha val="68000"/>
                  </a:srgbClr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Quotes requested</a:t>
            </a:r>
            <a:endParaRPr lang="en-US" sz="1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24000" y="3687217"/>
            <a:ext cx="7962900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552"/>
              </a:lnSpc>
              <a:buNone/>
            </a:pPr>
            <a:r>
              <a:rPr lang="en-US" sz="2100" spc="168" kern="0" dirty="0">
                <a:solidFill>
                  <a:srgbClr val="41618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PRODUCT THIS PERIOD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626870" y="4405387"/>
            <a:ext cx="7212330" cy="22324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240030" indent="-240030">
              <a:lnSpc>
                <a:spcPct val="133953"/>
              </a:lnSpc>
              <a:buSzPct val="100000"/>
              <a:buChar char="•"/>
              <a:tabLst>
                <a:tab pos="240030" algn="l"/>
              </a:tabLst>
            </a:pPr>
            <a:r>
              <a:rPr lang="en-US" sz="2700" dirty="0">
                <a:solidFill>
                  <a:srgbClr val="1B1A17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Registrar console: readiness + holds</a:t>
            </a:r>
            <a:endParaRPr lang="en-US" sz="2700" dirty="0"/>
          </a:p>
          <a:p>
            <a:pPr algn="l" marL="240030" indent="-240030">
              <a:lnSpc>
                <a:spcPct val="133953"/>
              </a:lnSpc>
              <a:buSzPct val="100000"/>
              <a:buChar char="•"/>
              <a:tabLst>
                <a:tab pos="240030" algn="l"/>
              </a:tabLst>
            </a:pPr>
            <a:r>
              <a:rPr lang="en-US" sz="2700" dirty="0">
                <a:solidFill>
                  <a:srgbClr val="1B1A17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Course Studio for faculty</a:t>
            </a:r>
            <a:endParaRPr lang="en-US" sz="2700" dirty="0"/>
          </a:p>
          <a:p>
            <a:pPr algn="l" marL="240030" indent="-240030">
              <a:lnSpc>
                <a:spcPct val="133953"/>
              </a:lnSpc>
              <a:buSzPct val="100000"/>
              <a:buChar char="•"/>
              <a:tabLst>
                <a:tab pos="240030" algn="l"/>
              </a:tabLst>
            </a:pPr>
            <a:r>
              <a:rPr lang="en-US" sz="2700" dirty="0">
                <a:solidFill>
                  <a:srgbClr val="1B1A17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Security hardening migration + tests</a:t>
            </a:r>
            <a:endParaRPr lang="en-US" sz="2700" dirty="0"/>
          </a:p>
          <a:p>
            <a:pPr algn="l" marL="240030" indent="-240030">
              <a:lnSpc>
                <a:spcPct val="133953"/>
              </a:lnSpc>
              <a:buSzPct val="100000"/>
              <a:buChar char="•"/>
              <a:tabLst>
                <a:tab pos="240030" algn="l"/>
              </a:tabLst>
            </a:pPr>
            <a:r>
              <a:rPr lang="en-US" sz="2700" dirty="0">
                <a:solidFill>
                  <a:srgbClr val="1B1A17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Privacy center for students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9525000" y="2428875"/>
            <a:ext cx="7239000" cy="5429250"/>
          </a:xfrm>
          <a:prstGeom prst="roundRect">
            <a:avLst>
              <a:gd name="adj" fmla="val 2807"/>
            </a:avLst>
          </a:prstGeom>
          <a:solidFill>
            <a:srgbClr val="F1EDE4"/>
          </a:solidFill>
          <a:ln w="19050">
            <a:solidFill>
              <a:srgbClr val="1B1A17">
                <a:alpha val="34000"/>
              </a:srgbClr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9435465" y="2447925"/>
            <a:ext cx="7418070" cy="5429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lnSpc>
                <a:spcPct val="135625"/>
              </a:lnSpc>
              <a:buNone/>
            </a:pPr>
            <a:r>
              <a:rPr lang="en-US" sz="2100" dirty="0">
                <a:solidFill>
                  <a:srgbClr val="1B1A17">
                    <a:alpha val="68000"/>
                  </a:srgb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registrar console screenshot</a:t>
            </a:r>
            <a:endParaRPr lang="en-US" sz="2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24000" y="1143000"/>
            <a:ext cx="16764000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552"/>
              </a:lnSpc>
              <a:buNone/>
            </a:pPr>
            <a:r>
              <a:rPr lang="en-US" sz="2100" spc="168" kern="0" dirty="0">
                <a:solidFill>
                  <a:srgbClr val="41618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TOP RISKS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1524000" y="2819326"/>
            <a:ext cx="4522589" cy="19050"/>
          </a:xfrm>
          <a:prstGeom prst="rect">
            <a:avLst/>
          </a:prstGeom>
          <a:solidFill>
            <a:srgbClr val="1B1A17">
              <a:alpha val="34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1524000" y="2185020"/>
            <a:ext cx="4429667" cy="5009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8831"/>
              </a:lnSpc>
              <a:buNone/>
            </a:pPr>
            <a:r>
              <a:rPr lang="en-US" sz="2400" b="1" dirty="0">
                <a:solidFill>
                  <a:srgbClr val="1B1A17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Risk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046589" y="2819326"/>
            <a:ext cx="1950913" cy="19050"/>
          </a:xfrm>
          <a:prstGeom prst="rect">
            <a:avLst/>
          </a:prstGeom>
          <a:solidFill>
            <a:srgbClr val="1B1A17">
              <a:alpha val="3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6046589" y="2185020"/>
            <a:ext cx="1798513" cy="5009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8831"/>
              </a:lnSpc>
              <a:buNone/>
            </a:pPr>
            <a:r>
              <a:rPr lang="en-US" sz="2400" b="1" dirty="0">
                <a:solidFill>
                  <a:srgbClr val="1B1A17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Level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7997503" y="2819326"/>
            <a:ext cx="8766497" cy="19050"/>
          </a:xfrm>
          <a:prstGeom prst="rect">
            <a:avLst/>
          </a:prstGeom>
          <a:solidFill>
            <a:srgbClr val="1B1A17">
              <a:alpha val="34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7997503" y="2185020"/>
            <a:ext cx="9029492" cy="50095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8831"/>
              </a:lnSpc>
              <a:buNone/>
            </a:pPr>
            <a:r>
              <a:rPr lang="en-US" sz="2400" b="1" dirty="0">
                <a:solidFill>
                  <a:srgbClr val="1B1A17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Mitigation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524000" y="3658419"/>
            <a:ext cx="4522589" cy="9525"/>
          </a:xfrm>
          <a:prstGeom prst="rect">
            <a:avLst/>
          </a:prstGeom>
          <a:solidFill>
            <a:srgbClr val="1B1A17">
              <a:alpha val="16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1524000" y="3009826"/>
            <a:ext cx="4429667" cy="5152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8831"/>
              </a:lnSpc>
              <a:buNone/>
            </a:pPr>
            <a:r>
              <a:rPr lang="en-US" sz="2400" dirty="0">
                <a:solidFill>
                  <a:srgbClr val="1B1A17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Solo founder bandwidth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6046589" y="3658419"/>
            <a:ext cx="1950913" cy="9525"/>
          </a:xfrm>
          <a:prstGeom prst="rect">
            <a:avLst/>
          </a:prstGeom>
          <a:solidFill>
            <a:srgbClr val="1B1A17">
              <a:alpha val="16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6046589" y="3009826"/>
            <a:ext cx="1798513" cy="5152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8831"/>
              </a:lnSpc>
              <a:buNone/>
            </a:pPr>
            <a:r>
              <a:rPr lang="en-US" sz="2400" dirty="0">
                <a:solidFill>
                  <a:srgbClr val="1B1A17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! High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7997503" y="3658419"/>
            <a:ext cx="8766497" cy="9525"/>
          </a:xfrm>
          <a:prstGeom prst="rect">
            <a:avLst/>
          </a:prstGeom>
          <a:solidFill>
            <a:srgbClr val="1B1A17">
              <a:alpha val="16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7997503" y="3009826"/>
            <a:ext cx="9029492" cy="5152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8831"/>
              </a:lnSpc>
              <a:buNone/>
            </a:pPr>
            <a:r>
              <a:rPr lang="en-US" sz="2400" dirty="0">
                <a:solidFill>
                  <a:srgbClr val="1B1A17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Contract security reviewer; hire founding engineer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1524000" y="4483224"/>
            <a:ext cx="4522589" cy="9525"/>
          </a:xfrm>
          <a:prstGeom prst="rect">
            <a:avLst/>
          </a:prstGeom>
          <a:solidFill>
            <a:srgbClr val="1B1A17">
              <a:alpha val="16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1524000" y="3839394"/>
            <a:ext cx="4429667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8831"/>
              </a:lnSpc>
              <a:buNone/>
            </a:pPr>
            <a:r>
              <a:rPr lang="en-US" sz="2400" dirty="0">
                <a:solidFill>
                  <a:srgbClr val="1B1A17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Insurance before go-live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6046589" y="4483224"/>
            <a:ext cx="1950913" cy="9525"/>
          </a:xfrm>
          <a:prstGeom prst="rect">
            <a:avLst/>
          </a:prstGeom>
          <a:solidFill>
            <a:srgbClr val="1B1A17">
              <a:alpha val="16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6046589" y="3839394"/>
            <a:ext cx="1798513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8831"/>
              </a:lnSpc>
              <a:buNone/>
            </a:pPr>
            <a:r>
              <a:rPr lang="en-US" sz="2400" dirty="0">
                <a:solidFill>
                  <a:srgbClr val="1B1A17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! High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7997503" y="4483224"/>
            <a:ext cx="8766497" cy="9525"/>
          </a:xfrm>
          <a:prstGeom prst="rect">
            <a:avLst/>
          </a:prstGeom>
          <a:solidFill>
            <a:srgbClr val="1B1A17">
              <a:alpha val="16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7997503" y="3839394"/>
            <a:ext cx="9029492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8831"/>
              </a:lnSpc>
              <a:buNone/>
            </a:pPr>
            <a:r>
              <a:rPr lang="en-US" sz="2400" dirty="0">
                <a:solidFill>
                  <a:srgbClr val="1B1A17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Two brokers engaged; bind by Nov 15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1524000" y="5308029"/>
            <a:ext cx="4522589" cy="9525"/>
          </a:xfrm>
          <a:prstGeom prst="rect">
            <a:avLst/>
          </a:prstGeom>
          <a:solidFill>
            <a:srgbClr val="1B1A17">
              <a:alpha val="16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1524000" y="4664199"/>
            <a:ext cx="4429667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8831"/>
              </a:lnSpc>
              <a:buNone/>
            </a:pPr>
            <a:r>
              <a:rPr lang="en-US" sz="2400" dirty="0">
                <a:solidFill>
                  <a:srgbClr val="1B1A17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SIS data quality</a:t>
            </a:r>
            <a:endParaRPr lang="en-US" sz="2400" dirty="0"/>
          </a:p>
        </p:txBody>
      </p:sp>
      <p:sp>
        <p:nvSpPr>
          <p:cNvPr id="23" name="Shape 21"/>
          <p:cNvSpPr/>
          <p:nvPr/>
        </p:nvSpPr>
        <p:spPr>
          <a:xfrm>
            <a:off x="6046589" y="5308029"/>
            <a:ext cx="1950913" cy="9525"/>
          </a:xfrm>
          <a:prstGeom prst="rect">
            <a:avLst/>
          </a:prstGeom>
          <a:solidFill>
            <a:srgbClr val="1B1A17">
              <a:alpha val="16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6046589" y="4664199"/>
            <a:ext cx="1798513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8831"/>
              </a:lnSpc>
              <a:buNone/>
            </a:pPr>
            <a:r>
              <a:rPr lang="en-US" sz="2400" dirty="0">
                <a:solidFill>
                  <a:srgbClr val="1B1A17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? Medium</a:t>
            </a:r>
            <a:endParaRPr lang="en-US" sz="2400" dirty="0"/>
          </a:p>
        </p:txBody>
      </p:sp>
      <p:sp>
        <p:nvSpPr>
          <p:cNvPr id="25" name="Shape 23"/>
          <p:cNvSpPr/>
          <p:nvPr/>
        </p:nvSpPr>
        <p:spPr>
          <a:xfrm>
            <a:off x="7997503" y="5308029"/>
            <a:ext cx="8766497" cy="9525"/>
          </a:xfrm>
          <a:prstGeom prst="rect">
            <a:avLst/>
          </a:prstGeom>
          <a:solidFill>
            <a:srgbClr val="1B1A17">
              <a:alpha val="16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7997503" y="4664199"/>
            <a:ext cx="9029492" cy="510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lnSpc>
                <a:spcPct val="128831"/>
              </a:lnSpc>
              <a:buNone/>
            </a:pPr>
            <a:r>
              <a:rPr lang="en-US" sz="2400" dirty="0">
                <a:solidFill>
                  <a:srgbClr val="1B1A17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Data readiness checklist with IT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24000" y="1143000"/>
            <a:ext cx="16764000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552"/>
              </a:lnSpc>
              <a:buNone/>
            </a:pPr>
            <a:r>
              <a:rPr lang="en-US" sz="2100" spc="168" kern="0" dirty="0">
                <a:solidFill>
                  <a:srgbClr val="41618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CASH AND RUNWAY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524000" y="2013570"/>
            <a:ext cx="14716125" cy="163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7500"/>
              </a:lnSpc>
              <a:buNone/>
            </a:pPr>
            <a:r>
              <a:rPr lang="en-US" sz="6000" b="1" spc="-90" kern="0" dirty="0">
                <a:solidFill>
                  <a:srgbClr val="1B1A17"/>
                </a:solidFill>
                <a:latin typeface="Barlow Condensed" pitchFamily="34" charset="0"/>
                <a:ea typeface="Barlow Condensed" pitchFamily="34" charset="-122"/>
                <a:cs typeface="Barlow Condensed" pitchFamily="34" charset="-120"/>
              </a:rPr>
              <a:t>Runway is 25 months at current burn; setup spend lands before go-live.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1524000" y="4070970"/>
            <a:ext cx="13735050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4390"/>
              </a:lnSpc>
              <a:buNone/>
            </a:pPr>
            <a:r>
              <a:rPr lang="en-US" sz="2550" dirty="0">
                <a:solidFill>
                  <a:srgbClr val="1B1A17">
                    <a:alpha val="68000"/>
                  </a:srgbClr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Setup budget base case $12,430 (range $4,873–$19,910). Run-rate $565/month. ◌ Sample figures from the finance model.</a:t>
            </a:r>
            <a:endParaRPr lang="en-US" sz="2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90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24000" y="1143000"/>
            <a:ext cx="16764000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552"/>
              </a:lnSpc>
              <a:buNone/>
            </a:pPr>
            <a:r>
              <a:rPr lang="en-US" sz="2100" spc="168" kern="0" dirty="0">
                <a:solidFill>
                  <a:srgbClr val="94BCE3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WHAT I NEED FROM YOU</a:t>
            </a:r>
            <a:endParaRPr lang="en-US" sz="2100" dirty="0"/>
          </a:p>
        </p:txBody>
      </p:sp>
      <p:sp>
        <p:nvSpPr>
          <p:cNvPr id="3" name="Text 1"/>
          <p:cNvSpPr/>
          <p:nvPr/>
        </p:nvSpPr>
        <p:spPr>
          <a:xfrm>
            <a:off x="1352550" y="2089770"/>
            <a:ext cx="15487650" cy="1924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marL="628650" indent="-628650">
              <a:lnSpc>
                <a:spcPct val="124528"/>
              </a:lnSpc>
              <a:buSzPct val="100000"/>
              <a:buFont typeface="+mj-lt"/>
              <a:buAutoNum type="arabicPeriod" startAt="1"/>
              <a:tabLst>
                <a:tab pos="628650" algn="l"/>
              </a:tabLst>
            </a:pPr>
            <a:r>
              <a:rPr lang="en-US" sz="3300" dirty="0">
                <a:solidFill>
                  <a:srgbClr val="ECEEF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Intro to a higher-ed insurance broker</a:t>
            </a:r>
            <a:endParaRPr lang="en-US" sz="3300" dirty="0"/>
          </a:p>
          <a:p>
            <a:pPr algn="l" marL="628650" indent="-628650">
              <a:lnSpc>
                <a:spcPct val="124528"/>
              </a:lnSpc>
              <a:buSzPct val="100000"/>
              <a:buFont typeface="+mj-lt"/>
              <a:buAutoNum type="arabicPeriod" startAt="2"/>
              <a:tabLst>
                <a:tab pos="628650" algn="l"/>
              </a:tabLst>
            </a:pPr>
            <a:r>
              <a:rPr lang="en-US" sz="3300" dirty="0">
                <a:solidFill>
                  <a:srgbClr val="ECEEF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Reviewer for the HECVAT before submission</a:t>
            </a:r>
            <a:endParaRPr lang="en-US" sz="3300" dirty="0"/>
          </a:p>
          <a:p>
            <a:pPr algn="l" marL="628650" indent="-628650">
              <a:lnSpc>
                <a:spcPct val="124528"/>
              </a:lnSpc>
              <a:buSzPct val="100000"/>
              <a:buFont typeface="+mj-lt"/>
              <a:buAutoNum type="arabicPeriod" startAt="3"/>
              <a:tabLst>
                <a:tab pos="628650" algn="l"/>
              </a:tabLst>
            </a:pPr>
            <a:r>
              <a:rPr lang="en-US" sz="3300" dirty="0">
                <a:solidFill>
                  <a:srgbClr val="ECEEF2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Two warm intros to registrars outside Tennessee</a:t>
            </a:r>
            <a:endParaRPr lang="en-US" sz="3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24000" y="1143000"/>
            <a:ext cx="16764000" cy="45147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9552"/>
              </a:lnSpc>
              <a:buNone/>
            </a:pPr>
            <a:r>
              <a:rPr lang="en-US" sz="2100" spc="168" kern="0" dirty="0">
                <a:solidFill>
                  <a:srgbClr val="41618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NEXT PERIOD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1524000" y="2013570"/>
            <a:ext cx="4825975" cy="38100"/>
          </a:xfrm>
          <a:prstGeom prst="rect">
            <a:avLst/>
          </a:prstGeom>
          <a:solidFill>
            <a:srgbClr val="1B1A17"/>
          </a:solidFill>
          <a:ln/>
        </p:spPr>
      </p:sp>
      <p:sp>
        <p:nvSpPr>
          <p:cNvPr id="4" name="Text 2"/>
          <p:cNvSpPr/>
          <p:nvPr/>
        </p:nvSpPr>
        <p:spPr>
          <a:xfrm>
            <a:off x="1524000" y="2280270"/>
            <a:ext cx="4970754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98"/>
              </a:lnSpc>
              <a:buNone/>
            </a:pPr>
            <a:r>
              <a:rPr lang="en-US" sz="2550" dirty="0">
                <a:solidFill>
                  <a:srgbClr val="1B1A17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Submit HECVAT Full and ACR draft</a:t>
            </a:r>
            <a:endParaRPr lang="en-US" sz="2550" dirty="0"/>
          </a:p>
        </p:txBody>
      </p:sp>
      <p:sp>
        <p:nvSpPr>
          <p:cNvPr id="5" name="Shape 3"/>
          <p:cNvSpPr/>
          <p:nvPr/>
        </p:nvSpPr>
        <p:spPr>
          <a:xfrm>
            <a:off x="6730975" y="2013570"/>
            <a:ext cx="4825975" cy="38100"/>
          </a:xfrm>
          <a:prstGeom prst="rect">
            <a:avLst/>
          </a:prstGeom>
          <a:solidFill>
            <a:srgbClr val="1B1A17"/>
          </a:solidFill>
          <a:ln/>
        </p:spPr>
      </p:sp>
      <p:sp>
        <p:nvSpPr>
          <p:cNvPr id="6" name="Text 4"/>
          <p:cNvSpPr/>
          <p:nvPr/>
        </p:nvSpPr>
        <p:spPr>
          <a:xfrm>
            <a:off x="6730975" y="2280270"/>
            <a:ext cx="4970754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98"/>
              </a:lnSpc>
              <a:buNone/>
            </a:pPr>
            <a:r>
              <a:rPr lang="en-US" sz="2550" dirty="0">
                <a:solidFill>
                  <a:srgbClr val="1B1A17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SSO tested with Vanderbilt's IdP</a:t>
            </a:r>
            <a:endParaRPr lang="en-US" sz="2550" dirty="0"/>
          </a:p>
        </p:txBody>
      </p:sp>
      <p:sp>
        <p:nvSpPr>
          <p:cNvPr id="7" name="Shape 5"/>
          <p:cNvSpPr/>
          <p:nvPr/>
        </p:nvSpPr>
        <p:spPr>
          <a:xfrm>
            <a:off x="11937950" y="2013570"/>
            <a:ext cx="4825975" cy="38100"/>
          </a:xfrm>
          <a:prstGeom prst="rect">
            <a:avLst/>
          </a:prstGeom>
          <a:solidFill>
            <a:srgbClr val="1B1A17"/>
          </a:solidFill>
          <a:ln/>
        </p:spPr>
      </p:sp>
      <p:sp>
        <p:nvSpPr>
          <p:cNvPr id="8" name="Text 6"/>
          <p:cNvSpPr/>
          <p:nvPr/>
        </p:nvSpPr>
        <p:spPr>
          <a:xfrm>
            <a:off x="11937950" y="2280270"/>
            <a:ext cx="4970754" cy="4914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6098"/>
              </a:lnSpc>
              <a:buNone/>
            </a:pPr>
            <a:r>
              <a:rPr lang="en-US" sz="2550" dirty="0">
                <a:solidFill>
                  <a:srgbClr val="1B1A17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Insurance bound; go/no-go set</a:t>
            </a:r>
            <a:endParaRPr lang="en-US" sz="2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2026-10-06T02:39:54Z</dcterms:created>
  <dcterms:modified xsi:type="dcterms:W3CDTF">2026-10-06T02:39:54Z</dcterms:modified>
</cp:coreProperties>
</file>